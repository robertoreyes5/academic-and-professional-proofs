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66" r:id="rId5"/>
    <p:sldId id="309" r:id="rId6"/>
    <p:sldId id="310" r:id="rId7"/>
    <p:sldId id="311" r:id="rId8"/>
    <p:sldId id="313" r:id="rId9"/>
    <p:sldId id="314" r:id="rId10"/>
    <p:sldId id="308" r:id="rId11"/>
    <p:sldId id="31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94619" autoAdjust="0"/>
  </p:normalViewPr>
  <p:slideViewPr>
    <p:cSldViewPr snapToGrid="0">
      <p:cViewPr varScale="1">
        <p:scale>
          <a:sx n="89" d="100"/>
          <a:sy n="89" d="100"/>
        </p:scale>
        <p:origin x="12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A66772-F185-4D58-B8BB-E9370D7A7A2B}"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40FC4FFE-8987-4A26-B7F4-8A516F18ADAE}">
      <dgm:prSet/>
      <dgm:spPr/>
      <dgm:t>
        <a:bodyPr/>
        <a:lstStyle/>
        <a:p>
          <a:pPr>
            <a:lnSpc>
              <a:spcPct val="100000"/>
            </a:lnSpc>
            <a:defRPr cap="all"/>
          </a:pPr>
          <a:r>
            <a:rPr lang="es-MX" dirty="0"/>
            <a:t>Una ecuación diferencial ordinaria de segundo orden, tiene soluciones ondulatorias, cuyos valores de J(x) se reemplazan  en  las  relaciones  de  transferencia  de  calor,  facilitando el mecanismo de distribución de temperatura en alimentos enlatados en envases de hojalata</a:t>
          </a:r>
          <a:endParaRPr lang="en-US" dirty="0"/>
        </a:p>
      </dgm:t>
    </dgm:pt>
    <dgm:pt modelId="{CAD7EF86-FB23-41F6-BF42-040B36DEFDB1}" type="parTrans" cxnId="{C7AD8469-3C68-4AF9-AB82-79B0043AA120}">
      <dgm:prSet/>
      <dgm:spPr/>
      <dgm:t>
        <a:bodyPr/>
        <a:lstStyle/>
        <a:p>
          <a:endParaRPr lang="en-US"/>
        </a:p>
      </dgm:t>
    </dgm:pt>
    <dgm:pt modelId="{5B62599A-5C9B-48E7-896E-EA782AC60C8B}" type="sibTrans" cxnId="{C7AD8469-3C68-4AF9-AB82-79B0043AA120}">
      <dgm:prSet/>
      <dgm:spPr/>
      <dgm:t>
        <a:bodyPr/>
        <a:lstStyle/>
        <a:p>
          <a:endParaRPr lang="en-US"/>
        </a:p>
      </dgm:t>
    </dgm:pt>
    <dgm:pt modelId="{49225C73-1633-42F1-AB3B-7CB183E5F8B8}">
      <dgm:prSet/>
      <dgm:spPr/>
      <dgm:t>
        <a:bodyPr/>
        <a:lstStyle/>
        <a:p>
          <a:pPr>
            <a:lnSpc>
              <a:spcPct val="100000"/>
            </a:lnSpc>
            <a:defRPr cap="all"/>
          </a:pPr>
          <a:endParaRPr lang="es-MX" dirty="0"/>
        </a:p>
        <a:p>
          <a:r>
            <a:rPr lang="es-MX" dirty="0"/>
            <a:t>La transferencia de calor, según la ley de Fourier  en  envases  cilíndricos,  para  alimentos  en  forma  de  conserva,  se  puede  aplicar  a  envases  de  cualesquiera dimensiones, como para envases de dimensiones deseadas </a:t>
          </a:r>
        </a:p>
        <a:p>
          <a:pPr>
            <a:lnSpc>
              <a:spcPct val="100000"/>
            </a:lnSpc>
            <a:defRPr cap="all"/>
          </a:pPr>
          <a:endParaRPr lang="en-US" dirty="0"/>
        </a:p>
      </dgm:t>
    </dgm:pt>
    <dgm:pt modelId="{1A0E2090-1D4F-438A-8766-B6030CE01ADD}" type="parTrans" cxnId="{A9154303-8225-4248-91DC-1B0156A35F07}">
      <dgm:prSet/>
      <dgm:spPr/>
      <dgm:t>
        <a:bodyPr/>
        <a:lstStyle/>
        <a:p>
          <a:endParaRPr lang="en-US"/>
        </a:p>
      </dgm:t>
    </dgm:pt>
    <dgm:pt modelId="{9646853A-8964-4519-A5B1-0B7D18B2983D}" type="sibTrans" cxnId="{A9154303-8225-4248-91DC-1B0156A35F07}">
      <dgm:prSet/>
      <dgm:spPr/>
      <dgm:t>
        <a:bodyPr/>
        <a:lstStyle/>
        <a:p>
          <a:endParaRPr lang="en-US"/>
        </a:p>
      </dgm:t>
    </dgm:pt>
    <dgm:pt modelId="{1C383F32-22E8-4F62-A3E0-BDC3D5F48992}">
      <dgm:prSet/>
      <dgm:spPr/>
      <dgm:t>
        <a:bodyPr/>
        <a:lstStyle/>
        <a:p>
          <a:pPr>
            <a:lnSpc>
              <a:spcPct val="100000"/>
            </a:lnSpc>
          </a:pPr>
          <a:r>
            <a:rPr lang="es-MX" b="0" i="0" dirty="0"/>
            <a:t>La distribución de temperatura para elementos rectangulares está conformada por una serie de términos de funciones senoidales y cosenoidales; mientras que la distribución de temperatura para un cilindro finito está fundamentado y bien definido por la ecuación de Bessel</a:t>
          </a:r>
          <a:endParaRPr lang="en-US" dirty="0"/>
        </a:p>
      </dgm:t>
    </dgm:pt>
    <dgm:pt modelId="{A7920A2F-3244-4159-AF04-6A1D38B7B317}" type="parTrans" cxnId="{C4CCE57E-E871-46D6-BAD5-880252C95D22}">
      <dgm:prSet/>
      <dgm:spPr/>
      <dgm:t>
        <a:bodyPr/>
        <a:lstStyle/>
        <a:p>
          <a:endParaRPr lang="en-US"/>
        </a:p>
      </dgm:t>
    </dgm:pt>
    <dgm:pt modelId="{8500F72A-2C6D-4FDF-9C1D-CA691380EB0B}" type="sibTrans" cxnId="{C4CCE57E-E871-46D6-BAD5-880252C95D22}">
      <dgm:prSet/>
      <dgm:spPr/>
      <dgm:t>
        <a:bodyPr/>
        <a:lstStyle/>
        <a:p>
          <a:endParaRPr lang="en-US"/>
        </a:p>
      </dgm:t>
    </dgm:pt>
    <dgm:pt modelId="{B6056BFB-47D7-4C5F-BA11-2CB63C56A52D}" type="pres">
      <dgm:prSet presAssocID="{01A66772-F185-4D58-B8BB-E9370D7A7A2B}" presName="root" presStyleCnt="0">
        <dgm:presLayoutVars>
          <dgm:dir/>
          <dgm:resizeHandles val="exact"/>
        </dgm:presLayoutVars>
      </dgm:prSet>
      <dgm:spPr/>
    </dgm:pt>
    <dgm:pt modelId="{311B26C8-22B1-4363-B621-DD56FB7418C8}" type="pres">
      <dgm:prSet presAssocID="{40FC4FFE-8987-4A26-B7F4-8A516F18ADAE}" presName="compNode" presStyleCnt="0"/>
      <dgm:spPr/>
    </dgm:pt>
    <dgm:pt modelId="{A201D7A7-914C-4D24-8B82-EE40155AB0BE}" type="pres">
      <dgm:prSet presAssocID="{40FC4FFE-8987-4A26-B7F4-8A516F18ADAE}" presName="iconBgRect" presStyleLbl="bgShp" presStyleIdx="0" presStyleCnt="3"/>
      <dgm:spPr>
        <a:prstGeom prst="ellipse">
          <a:avLst/>
        </a:prstGeom>
      </dgm:spPr>
    </dgm:pt>
    <dgm:pt modelId="{8FA2F131-CD01-4CBD-B7A5-1B9B5E7F0402}" type="pres">
      <dgm:prSet presAssocID="{40FC4FFE-8987-4A26-B7F4-8A516F18ADAE}"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ie chart"/>
        </a:ext>
      </dgm:extLst>
    </dgm:pt>
    <dgm:pt modelId="{F755F00C-B2DB-4097-B4BC-8F1BACC938B7}" type="pres">
      <dgm:prSet presAssocID="{40FC4FFE-8987-4A26-B7F4-8A516F18ADAE}" presName="spaceRect" presStyleCnt="0"/>
      <dgm:spPr/>
    </dgm:pt>
    <dgm:pt modelId="{08F4E96D-0DB6-4476-8C51-7CC7EC2F227B}" type="pres">
      <dgm:prSet presAssocID="{40FC4FFE-8987-4A26-B7F4-8A516F18ADAE}" presName="textRect" presStyleLbl="revTx" presStyleIdx="0" presStyleCnt="3">
        <dgm:presLayoutVars>
          <dgm:chMax val="1"/>
          <dgm:chPref val="1"/>
        </dgm:presLayoutVars>
      </dgm:prSet>
      <dgm:spPr/>
    </dgm:pt>
    <dgm:pt modelId="{5AB3C10D-885E-4522-AB39-7ED4318D191A}" type="pres">
      <dgm:prSet presAssocID="{5B62599A-5C9B-48E7-896E-EA782AC60C8B}" presName="sibTrans" presStyleCnt="0"/>
      <dgm:spPr/>
    </dgm:pt>
    <dgm:pt modelId="{2F278BF9-E1B2-4A1C-B065-C19A7B904219}" type="pres">
      <dgm:prSet presAssocID="{49225C73-1633-42F1-AB3B-7CB183E5F8B8}" presName="compNode" presStyleCnt="0"/>
      <dgm:spPr/>
    </dgm:pt>
    <dgm:pt modelId="{543C18BC-1989-44B2-9862-C670C61D3452}" type="pres">
      <dgm:prSet presAssocID="{49225C73-1633-42F1-AB3B-7CB183E5F8B8}" presName="iconBgRect" presStyleLbl="bgShp" presStyleIdx="1" presStyleCnt="3"/>
      <dgm:spPr>
        <a:prstGeom prst="ellipse">
          <a:avLst/>
        </a:prstGeom>
      </dgm:spPr>
    </dgm:pt>
    <dgm:pt modelId="{E94F35BC-9C76-400A-BBCA-0032259E2E5A}" type="pres">
      <dgm:prSet presAssocID="{49225C73-1633-42F1-AB3B-7CB183E5F8B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ullseye"/>
        </a:ext>
      </dgm:extLst>
    </dgm:pt>
    <dgm:pt modelId="{503A6D04-9ADD-43CC-9847-497CD48F2D11}" type="pres">
      <dgm:prSet presAssocID="{49225C73-1633-42F1-AB3B-7CB183E5F8B8}" presName="spaceRect" presStyleCnt="0"/>
      <dgm:spPr/>
    </dgm:pt>
    <dgm:pt modelId="{20363298-B2A6-463D-A7BE-F9F67404E389}" type="pres">
      <dgm:prSet presAssocID="{49225C73-1633-42F1-AB3B-7CB183E5F8B8}" presName="textRect" presStyleLbl="revTx" presStyleIdx="1" presStyleCnt="3">
        <dgm:presLayoutVars>
          <dgm:chMax val="1"/>
          <dgm:chPref val="1"/>
        </dgm:presLayoutVars>
      </dgm:prSet>
      <dgm:spPr/>
    </dgm:pt>
    <dgm:pt modelId="{A47947BB-708D-4F7E-B072-3C2E42B34B24}" type="pres">
      <dgm:prSet presAssocID="{9646853A-8964-4519-A5B1-0B7D18B2983D}" presName="sibTrans" presStyleCnt="0"/>
      <dgm:spPr/>
    </dgm:pt>
    <dgm:pt modelId="{BDCD0AC9-D564-4025-AD8A-36664A6CBE31}" type="pres">
      <dgm:prSet presAssocID="{1C383F32-22E8-4F62-A3E0-BDC3D5F48992}" presName="compNode" presStyleCnt="0"/>
      <dgm:spPr/>
    </dgm:pt>
    <dgm:pt modelId="{5BDDFF18-9AEC-4E5E-B9AA-33D86F01A63E}" type="pres">
      <dgm:prSet presAssocID="{1C383F32-22E8-4F62-A3E0-BDC3D5F48992}" presName="iconBgRect" presStyleLbl="bgShp" presStyleIdx="2" presStyleCnt="3"/>
      <dgm:spPr>
        <a:prstGeom prst="ellipse">
          <a:avLst/>
        </a:prstGeom>
      </dgm:spPr>
    </dgm:pt>
    <dgm:pt modelId="{F09AEBFF-D2D3-4FFF-AD65-C3CEAEEB10F2}" type="pres">
      <dgm:prSet presAssocID="{1C383F32-22E8-4F62-A3E0-BDC3D5F4899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Stopwatch"/>
        </a:ext>
      </dgm:extLst>
    </dgm:pt>
    <dgm:pt modelId="{F2EBFBCF-0520-415A-A886-3C4F90D208EF}" type="pres">
      <dgm:prSet presAssocID="{1C383F32-22E8-4F62-A3E0-BDC3D5F48992}" presName="spaceRect" presStyleCnt="0"/>
      <dgm:spPr/>
    </dgm:pt>
    <dgm:pt modelId="{AB9CAFAA-6939-48A6-A89B-19D1A94B9EA1}" type="pres">
      <dgm:prSet presAssocID="{1C383F32-22E8-4F62-A3E0-BDC3D5F48992}" presName="textRect" presStyleLbl="revTx" presStyleIdx="2" presStyleCnt="3">
        <dgm:presLayoutVars>
          <dgm:chMax val="1"/>
          <dgm:chPref val="1"/>
        </dgm:presLayoutVars>
      </dgm:prSet>
      <dgm:spPr/>
    </dgm:pt>
  </dgm:ptLst>
  <dgm:cxnLst>
    <dgm:cxn modelId="{A9154303-8225-4248-91DC-1B0156A35F07}" srcId="{01A66772-F185-4D58-B8BB-E9370D7A7A2B}" destId="{49225C73-1633-42F1-AB3B-7CB183E5F8B8}" srcOrd="1" destOrd="0" parTransId="{1A0E2090-1D4F-438A-8766-B6030CE01ADD}" sibTransId="{9646853A-8964-4519-A5B1-0B7D18B2983D}"/>
    <dgm:cxn modelId="{BA953D32-2DFF-47FE-AF26-C6B9E63D38DF}" type="presOf" srcId="{49225C73-1633-42F1-AB3B-7CB183E5F8B8}" destId="{20363298-B2A6-463D-A7BE-F9F67404E389}" srcOrd="0" destOrd="0" presId="urn:microsoft.com/office/officeart/2018/5/layout/IconLeafLabelList"/>
    <dgm:cxn modelId="{EC450542-0ED9-4BD6-9E85-5709B80794C5}" type="presOf" srcId="{01A66772-F185-4D58-B8BB-E9370D7A7A2B}" destId="{B6056BFB-47D7-4C5F-BA11-2CB63C56A52D}" srcOrd="0" destOrd="0" presId="urn:microsoft.com/office/officeart/2018/5/layout/IconLeafLabelList"/>
    <dgm:cxn modelId="{C7AD8469-3C68-4AF9-AB82-79B0043AA120}" srcId="{01A66772-F185-4D58-B8BB-E9370D7A7A2B}" destId="{40FC4FFE-8987-4A26-B7F4-8A516F18ADAE}" srcOrd="0" destOrd="0" parTransId="{CAD7EF86-FB23-41F6-BF42-040B36DEFDB1}" sibTransId="{5B62599A-5C9B-48E7-896E-EA782AC60C8B}"/>
    <dgm:cxn modelId="{C4CCE57E-E871-46D6-BAD5-880252C95D22}" srcId="{01A66772-F185-4D58-B8BB-E9370D7A7A2B}" destId="{1C383F32-22E8-4F62-A3E0-BDC3D5F48992}" srcOrd="2" destOrd="0" parTransId="{A7920A2F-3244-4159-AF04-6A1D38B7B317}" sibTransId="{8500F72A-2C6D-4FDF-9C1D-CA691380EB0B}"/>
    <dgm:cxn modelId="{D55FAE9C-CF3C-44F3-9D1E-DE6DF574E6D9}" type="presOf" srcId="{1C383F32-22E8-4F62-A3E0-BDC3D5F48992}" destId="{AB9CAFAA-6939-48A6-A89B-19D1A94B9EA1}" srcOrd="0" destOrd="0" presId="urn:microsoft.com/office/officeart/2018/5/layout/IconLeafLabelList"/>
    <dgm:cxn modelId="{A85983B4-FADF-419C-BC71-B5F0871C3055}" type="presOf" srcId="{40FC4FFE-8987-4A26-B7F4-8A516F18ADAE}" destId="{08F4E96D-0DB6-4476-8C51-7CC7EC2F227B}" srcOrd="0" destOrd="0" presId="urn:microsoft.com/office/officeart/2018/5/layout/IconLeafLabelList"/>
    <dgm:cxn modelId="{A3E74EE8-8900-4EBD-8983-3BF0AFD6DCC7}" type="presParOf" srcId="{B6056BFB-47D7-4C5F-BA11-2CB63C56A52D}" destId="{311B26C8-22B1-4363-B621-DD56FB7418C8}" srcOrd="0" destOrd="0" presId="urn:microsoft.com/office/officeart/2018/5/layout/IconLeafLabelList"/>
    <dgm:cxn modelId="{044EA9E0-B51B-492A-BE32-015CEAD0BAC9}" type="presParOf" srcId="{311B26C8-22B1-4363-B621-DD56FB7418C8}" destId="{A201D7A7-914C-4D24-8B82-EE40155AB0BE}" srcOrd="0" destOrd="0" presId="urn:microsoft.com/office/officeart/2018/5/layout/IconLeafLabelList"/>
    <dgm:cxn modelId="{08373EC6-14CB-429D-9495-F32683B931D7}" type="presParOf" srcId="{311B26C8-22B1-4363-B621-DD56FB7418C8}" destId="{8FA2F131-CD01-4CBD-B7A5-1B9B5E7F0402}" srcOrd="1" destOrd="0" presId="urn:microsoft.com/office/officeart/2018/5/layout/IconLeafLabelList"/>
    <dgm:cxn modelId="{9AB500F0-62A2-4E73-B4F4-5056804C8D6A}" type="presParOf" srcId="{311B26C8-22B1-4363-B621-DD56FB7418C8}" destId="{F755F00C-B2DB-4097-B4BC-8F1BACC938B7}" srcOrd="2" destOrd="0" presId="urn:microsoft.com/office/officeart/2018/5/layout/IconLeafLabelList"/>
    <dgm:cxn modelId="{676606A7-6564-4CEB-ACE0-4FF9A3A04E67}" type="presParOf" srcId="{311B26C8-22B1-4363-B621-DD56FB7418C8}" destId="{08F4E96D-0DB6-4476-8C51-7CC7EC2F227B}" srcOrd="3" destOrd="0" presId="urn:microsoft.com/office/officeart/2018/5/layout/IconLeafLabelList"/>
    <dgm:cxn modelId="{EAE0F94A-A454-4049-84F7-9EC90E847A03}" type="presParOf" srcId="{B6056BFB-47D7-4C5F-BA11-2CB63C56A52D}" destId="{5AB3C10D-885E-4522-AB39-7ED4318D191A}" srcOrd="1" destOrd="0" presId="urn:microsoft.com/office/officeart/2018/5/layout/IconLeafLabelList"/>
    <dgm:cxn modelId="{B0B5B21A-5ADD-4500-9A67-9B26AF543EBA}" type="presParOf" srcId="{B6056BFB-47D7-4C5F-BA11-2CB63C56A52D}" destId="{2F278BF9-E1B2-4A1C-B065-C19A7B904219}" srcOrd="2" destOrd="0" presId="urn:microsoft.com/office/officeart/2018/5/layout/IconLeafLabelList"/>
    <dgm:cxn modelId="{11FEAF2C-54F7-4E9C-A1D6-5FA0BF7F3665}" type="presParOf" srcId="{2F278BF9-E1B2-4A1C-B065-C19A7B904219}" destId="{543C18BC-1989-44B2-9862-C670C61D3452}" srcOrd="0" destOrd="0" presId="urn:microsoft.com/office/officeart/2018/5/layout/IconLeafLabelList"/>
    <dgm:cxn modelId="{92C17ECB-A80D-4A0E-95CF-40A53D32275F}" type="presParOf" srcId="{2F278BF9-E1B2-4A1C-B065-C19A7B904219}" destId="{E94F35BC-9C76-400A-BBCA-0032259E2E5A}" srcOrd="1" destOrd="0" presId="urn:microsoft.com/office/officeart/2018/5/layout/IconLeafLabelList"/>
    <dgm:cxn modelId="{54E5AE33-4BE6-44E7-871B-1103A0BA7A56}" type="presParOf" srcId="{2F278BF9-E1B2-4A1C-B065-C19A7B904219}" destId="{503A6D04-9ADD-43CC-9847-497CD48F2D11}" srcOrd="2" destOrd="0" presId="urn:microsoft.com/office/officeart/2018/5/layout/IconLeafLabelList"/>
    <dgm:cxn modelId="{3575FCA0-4FCE-460A-8D84-2C767D311A20}" type="presParOf" srcId="{2F278BF9-E1B2-4A1C-B065-C19A7B904219}" destId="{20363298-B2A6-463D-A7BE-F9F67404E389}" srcOrd="3" destOrd="0" presId="urn:microsoft.com/office/officeart/2018/5/layout/IconLeafLabelList"/>
    <dgm:cxn modelId="{4FD22448-C17B-4C43-BAB3-A0B7AA9BCE0D}" type="presParOf" srcId="{B6056BFB-47D7-4C5F-BA11-2CB63C56A52D}" destId="{A47947BB-708D-4F7E-B072-3C2E42B34B24}" srcOrd="3" destOrd="0" presId="urn:microsoft.com/office/officeart/2018/5/layout/IconLeafLabelList"/>
    <dgm:cxn modelId="{75E30F4F-0E76-457B-9D4F-CDE27C2F7F77}" type="presParOf" srcId="{B6056BFB-47D7-4C5F-BA11-2CB63C56A52D}" destId="{BDCD0AC9-D564-4025-AD8A-36664A6CBE31}" srcOrd="4" destOrd="0" presId="urn:microsoft.com/office/officeart/2018/5/layout/IconLeafLabelList"/>
    <dgm:cxn modelId="{C6A367E7-6A7C-42CB-94E4-8EA78AEF87BF}" type="presParOf" srcId="{BDCD0AC9-D564-4025-AD8A-36664A6CBE31}" destId="{5BDDFF18-9AEC-4E5E-B9AA-33D86F01A63E}" srcOrd="0" destOrd="0" presId="urn:microsoft.com/office/officeart/2018/5/layout/IconLeafLabelList"/>
    <dgm:cxn modelId="{B180CBEB-FA9F-4E52-8CA3-A65CB80BB91B}" type="presParOf" srcId="{BDCD0AC9-D564-4025-AD8A-36664A6CBE31}" destId="{F09AEBFF-D2D3-4FFF-AD65-C3CEAEEB10F2}" srcOrd="1" destOrd="0" presId="urn:microsoft.com/office/officeart/2018/5/layout/IconLeafLabelList"/>
    <dgm:cxn modelId="{170B020E-1E19-4EB4-A72C-4FCF01A7DD7E}" type="presParOf" srcId="{BDCD0AC9-D564-4025-AD8A-36664A6CBE31}" destId="{F2EBFBCF-0520-415A-A886-3C4F90D208EF}" srcOrd="2" destOrd="0" presId="urn:microsoft.com/office/officeart/2018/5/layout/IconLeafLabelList"/>
    <dgm:cxn modelId="{CADD8F7D-722C-42A0-AF21-39A3559F8D7B}" type="presParOf" srcId="{BDCD0AC9-D564-4025-AD8A-36664A6CBE31}" destId="{AB9CAFAA-6939-48A6-A89B-19D1A94B9EA1}"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01D7A7-914C-4D24-8B82-EE40155AB0BE}">
      <dsp:nvSpPr>
        <dsp:cNvPr id="0" name=""/>
        <dsp:cNvSpPr/>
      </dsp:nvSpPr>
      <dsp:spPr>
        <a:xfrm>
          <a:off x="616949" y="59289"/>
          <a:ext cx="1818562" cy="181856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A2F131-CD01-4CBD-B7A5-1B9B5E7F0402}">
      <dsp:nvSpPr>
        <dsp:cNvPr id="0" name=""/>
        <dsp:cNvSpPr/>
      </dsp:nvSpPr>
      <dsp:spPr>
        <a:xfrm>
          <a:off x="1004512" y="446852"/>
          <a:ext cx="1043437" cy="1043437"/>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8F4E96D-0DB6-4476-8C51-7CC7EC2F227B}">
      <dsp:nvSpPr>
        <dsp:cNvPr id="0" name=""/>
        <dsp:cNvSpPr/>
      </dsp:nvSpPr>
      <dsp:spPr>
        <a:xfrm>
          <a:off x="35606" y="2444290"/>
          <a:ext cx="2981250" cy="128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s-MX" sz="1100" kern="1200" dirty="0"/>
            <a:t>Una ecuación diferencial ordinaria de segundo orden, tiene soluciones ondulatorias, cuyos valores de J(x) se reemplazan  en  las  relaciones  de  transferencia  de  calor,  facilitando el mecanismo de distribución de temperatura en alimentos enlatados en envases de hojalata</a:t>
          </a:r>
          <a:endParaRPr lang="en-US" sz="1100" kern="1200" dirty="0"/>
        </a:p>
      </dsp:txBody>
      <dsp:txXfrm>
        <a:off x="35606" y="2444290"/>
        <a:ext cx="2981250" cy="1282500"/>
      </dsp:txXfrm>
    </dsp:sp>
    <dsp:sp modelId="{543C18BC-1989-44B2-9862-C670C61D3452}">
      <dsp:nvSpPr>
        <dsp:cNvPr id="0" name=""/>
        <dsp:cNvSpPr/>
      </dsp:nvSpPr>
      <dsp:spPr>
        <a:xfrm>
          <a:off x="4119918" y="59289"/>
          <a:ext cx="1818562" cy="181856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4F35BC-9C76-400A-BBCA-0032259E2E5A}">
      <dsp:nvSpPr>
        <dsp:cNvPr id="0" name=""/>
        <dsp:cNvSpPr/>
      </dsp:nvSpPr>
      <dsp:spPr>
        <a:xfrm>
          <a:off x="4507481" y="446852"/>
          <a:ext cx="1043437" cy="10434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0363298-B2A6-463D-A7BE-F9F67404E389}">
      <dsp:nvSpPr>
        <dsp:cNvPr id="0" name=""/>
        <dsp:cNvSpPr/>
      </dsp:nvSpPr>
      <dsp:spPr>
        <a:xfrm>
          <a:off x="3538574" y="2444290"/>
          <a:ext cx="2981250" cy="128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endParaRPr lang="es-MX" sz="1100" kern="1200" dirty="0"/>
        </a:p>
        <a:p>
          <a:pPr marL="0" lvl="0" indent="0" algn="ctr" defTabSz="488950">
            <a:spcBef>
              <a:spcPct val="0"/>
            </a:spcBef>
            <a:spcAft>
              <a:spcPct val="35000"/>
            </a:spcAft>
            <a:buNone/>
          </a:pPr>
          <a:r>
            <a:rPr lang="es-MX" sz="1100" kern="1200" dirty="0"/>
            <a:t>La transferencia de calor, según la ley de Fourier  en  envases  cilíndricos,  para  alimentos  en  forma  de  conserva,  se  puede  aplicar  a  envases  de  cualesquiera dimensiones, como para envases de dimensiones deseadas </a:t>
          </a:r>
        </a:p>
        <a:p>
          <a:pPr marL="0" lvl="0" indent="0" algn="ctr" defTabSz="488950">
            <a:lnSpc>
              <a:spcPct val="100000"/>
            </a:lnSpc>
            <a:spcBef>
              <a:spcPct val="0"/>
            </a:spcBef>
            <a:spcAft>
              <a:spcPct val="35000"/>
            </a:spcAft>
            <a:buNone/>
            <a:defRPr cap="all"/>
          </a:pPr>
          <a:endParaRPr lang="en-US" sz="1100" kern="1200" dirty="0"/>
        </a:p>
      </dsp:txBody>
      <dsp:txXfrm>
        <a:off x="3538574" y="2444290"/>
        <a:ext cx="2981250" cy="1282500"/>
      </dsp:txXfrm>
    </dsp:sp>
    <dsp:sp modelId="{5BDDFF18-9AEC-4E5E-B9AA-33D86F01A63E}">
      <dsp:nvSpPr>
        <dsp:cNvPr id="0" name=""/>
        <dsp:cNvSpPr/>
      </dsp:nvSpPr>
      <dsp:spPr>
        <a:xfrm>
          <a:off x="7622887" y="59289"/>
          <a:ext cx="1818562" cy="181856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9AEBFF-D2D3-4FFF-AD65-C3CEAEEB10F2}">
      <dsp:nvSpPr>
        <dsp:cNvPr id="0" name=""/>
        <dsp:cNvSpPr/>
      </dsp:nvSpPr>
      <dsp:spPr>
        <a:xfrm>
          <a:off x="8010450" y="446852"/>
          <a:ext cx="1043437" cy="10434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B9CAFAA-6939-48A6-A89B-19D1A94B9EA1}">
      <dsp:nvSpPr>
        <dsp:cNvPr id="0" name=""/>
        <dsp:cNvSpPr/>
      </dsp:nvSpPr>
      <dsp:spPr>
        <a:xfrm>
          <a:off x="7041543" y="2444290"/>
          <a:ext cx="2981250" cy="128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MX" sz="1100" b="0" i="0" kern="1200" dirty="0"/>
            <a:t>La distribución de temperatura para elementos rectangulares está conformada por una serie de términos de funciones senoidales y cosenoidales; mientras que la distribución de temperatura para un cilindro finito está fundamentado y bien definido por la ecuación de Bessel</a:t>
          </a:r>
          <a:endParaRPr lang="en-US" sz="1100" kern="1200" dirty="0"/>
        </a:p>
      </dsp:txBody>
      <dsp:txXfrm>
        <a:off x="7041543" y="2444290"/>
        <a:ext cx="2981250" cy="12825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11/14/2022</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87293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11/14/2022</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38980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11/14/2022</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2331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11/14/2022</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57611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11/14/2022</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2808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11/14/2022</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01771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11/14/2022</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0701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11/14/2022</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01302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11/14/2022</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58826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11/14/2022</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60147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452A527-3631-41ED-858D-3777A7D14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peak Pro"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6730000" y="639097"/>
            <a:ext cx="4813072" cy="3494791"/>
          </a:xfrm>
        </p:spPr>
        <p:txBody>
          <a:bodyPr>
            <a:noAutofit/>
          </a:bodyPr>
          <a:lstStyle/>
          <a:p>
            <a:r>
              <a:rPr lang="en-US" sz="6600" dirty="0" err="1"/>
              <a:t>Ecuaciones</a:t>
            </a:r>
            <a:r>
              <a:rPr lang="en-US" sz="6600" dirty="0"/>
              <a:t> </a:t>
            </a:r>
            <a:r>
              <a:rPr lang="en-US" sz="6600" dirty="0" err="1"/>
              <a:t>diferenciales</a:t>
            </a:r>
            <a:r>
              <a:rPr lang="en-US" sz="6600" dirty="0"/>
              <a:t> </a:t>
            </a:r>
            <a:r>
              <a:rPr lang="en-US" sz="6600" dirty="0" err="1"/>
              <a:t>en</a:t>
            </a:r>
            <a:r>
              <a:rPr lang="en-US" sz="6600" dirty="0"/>
              <a:t> </a:t>
            </a:r>
            <a:r>
              <a:rPr lang="en-US" sz="6600" dirty="0" err="1"/>
              <a:t>ingeniería</a:t>
            </a:r>
            <a:r>
              <a:rPr lang="en-US" sz="6600" dirty="0"/>
              <a:t> </a:t>
            </a:r>
            <a:r>
              <a:rPr lang="en-US" sz="6600" dirty="0" err="1"/>
              <a:t>en</a:t>
            </a:r>
            <a:r>
              <a:rPr lang="en-US" sz="6600" dirty="0"/>
              <a:t> </a:t>
            </a:r>
            <a:r>
              <a:rPr lang="en-US" sz="6600" dirty="0" err="1"/>
              <a:t>alimentos</a:t>
            </a:r>
            <a:r>
              <a:rPr lang="en-US" sz="6600" dirty="0"/>
              <a:t>.</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6729999" y="4455621"/>
            <a:ext cx="4829101" cy="1238616"/>
          </a:xfrm>
        </p:spPr>
        <p:txBody>
          <a:bodyPr>
            <a:normAutofit fontScale="47500" lnSpcReduction="20000"/>
          </a:bodyPr>
          <a:lstStyle/>
          <a:p>
            <a:r>
              <a:rPr lang="en-US" dirty="0"/>
              <a:t>Eduardo </a:t>
            </a:r>
            <a:r>
              <a:rPr lang="en-US" dirty="0" err="1"/>
              <a:t>Amancio</a:t>
            </a:r>
            <a:r>
              <a:rPr lang="en-US" dirty="0"/>
              <a:t> </a:t>
            </a:r>
            <a:r>
              <a:rPr lang="en-US" dirty="0" err="1"/>
              <a:t>meléndez</a:t>
            </a:r>
            <a:endParaRPr lang="en-US" dirty="0"/>
          </a:p>
          <a:p>
            <a:r>
              <a:rPr lang="en-US" dirty="0"/>
              <a:t>Roberto </a:t>
            </a:r>
            <a:r>
              <a:rPr lang="en-US" dirty="0" err="1"/>
              <a:t>misael</a:t>
            </a:r>
            <a:r>
              <a:rPr lang="en-US" dirty="0"/>
              <a:t> </a:t>
            </a:r>
            <a:r>
              <a:rPr lang="en-US" dirty="0" err="1"/>
              <a:t>reyes</a:t>
            </a:r>
            <a:endParaRPr lang="en-US" dirty="0"/>
          </a:p>
          <a:p>
            <a:r>
              <a:rPr lang="en-US" dirty="0"/>
              <a:t>Enrique Ramirez </a:t>
            </a:r>
          </a:p>
          <a:p>
            <a:r>
              <a:rPr lang="en-US" dirty="0"/>
              <a:t>Italy Zayas</a:t>
            </a:r>
          </a:p>
        </p:txBody>
      </p:sp>
      <p:pic>
        <p:nvPicPr>
          <p:cNvPr id="6" name="Picture 5">
            <a:extLst>
              <a:ext uri="{FF2B5EF4-FFF2-40B4-BE49-F238E27FC236}">
                <a16:creationId xmlns:a16="http://schemas.microsoft.com/office/drawing/2014/main" id="{8940CBE3-3F91-419A-A649-32AB388ECA8B}"/>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 y="10"/>
            <a:ext cx="6096000" cy="6857990"/>
          </a:xfrm>
          <a:prstGeom prst="rect">
            <a:avLst/>
          </a:prstGeom>
        </p:spPr>
      </p:pic>
      <p:cxnSp>
        <p:nvCxnSpPr>
          <p:cNvPr id="26" name="Straight Connector 25">
            <a:extLst>
              <a:ext uri="{FF2B5EF4-FFF2-40B4-BE49-F238E27FC236}">
                <a16:creationId xmlns:a16="http://schemas.microsoft.com/office/drawing/2014/main" id="{D28A9C89-B313-458F-9C85-515930A51A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294754"/>
            <a:ext cx="43891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5915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F1E5F-1FBE-D80B-0B40-D30C983BD7F9}"/>
              </a:ext>
            </a:extLst>
          </p:cNvPr>
          <p:cNvSpPr>
            <a:spLocks noGrp="1"/>
          </p:cNvSpPr>
          <p:nvPr>
            <p:ph type="title"/>
          </p:nvPr>
        </p:nvSpPr>
        <p:spPr/>
        <p:txBody>
          <a:bodyPr/>
          <a:lstStyle/>
          <a:p>
            <a:r>
              <a:rPr lang="es-MX" dirty="0"/>
              <a:t>Resumen</a:t>
            </a:r>
          </a:p>
        </p:txBody>
      </p:sp>
      <p:sp>
        <p:nvSpPr>
          <p:cNvPr id="3" name="Content Placeholder 2">
            <a:extLst>
              <a:ext uri="{FF2B5EF4-FFF2-40B4-BE49-F238E27FC236}">
                <a16:creationId xmlns:a16="http://schemas.microsoft.com/office/drawing/2014/main" id="{48A8F365-B8AC-34CD-249A-AE37B5C4570A}"/>
              </a:ext>
            </a:extLst>
          </p:cNvPr>
          <p:cNvSpPr>
            <a:spLocks noGrp="1"/>
          </p:cNvSpPr>
          <p:nvPr>
            <p:ph idx="1"/>
          </p:nvPr>
        </p:nvSpPr>
        <p:spPr/>
        <p:txBody>
          <a:bodyPr>
            <a:normAutofit fontScale="92500" lnSpcReduction="10000"/>
          </a:bodyPr>
          <a:lstStyle/>
          <a:p>
            <a:r>
              <a:rPr lang="es-MX" dirty="0"/>
              <a:t>La expresión de Bessel es una ecuación diferencial ordinaria de segunda orden, cuya soluciones son esféricas y pueden resolver por los métodos de Frobenius, series y coeficientes indeterminados.</a:t>
            </a:r>
          </a:p>
          <a:p>
            <a:r>
              <a:rPr lang="es-MX" dirty="0"/>
              <a:t>La EDOPO de BESSEL fue resuelta en sus cuatro posibilidades donde los valores y comportamientos se proporcionan en tabla y gráficos en detalle.</a:t>
            </a:r>
          </a:p>
          <a:p>
            <a:r>
              <a:rPr lang="es-MX" dirty="0"/>
              <a:t>Todos estos resultados fueron utilizados para la distribución de temperatura para envases cilíndricos de dimensiones conocidas usando las ecuaciones de transferencias de calor por conducción, preferentemente, proveniente de la teoría de Fourier, facilitando mejorar, modificar y diseñar nuevos procesos. </a:t>
            </a:r>
          </a:p>
          <a:p>
            <a:r>
              <a:rPr lang="es-MX" dirty="0"/>
              <a:t>Los resultados de la distribución de temperatura fueron calculados por las ecuaciones respectivas y los resultados obtenidos fueron empleados satisfactoriamente en el desarrollo del trabajo.</a:t>
            </a:r>
          </a:p>
        </p:txBody>
      </p:sp>
    </p:spTree>
    <p:extLst>
      <p:ext uri="{BB962C8B-B14F-4D97-AF65-F5344CB8AC3E}">
        <p14:creationId xmlns:p14="http://schemas.microsoft.com/office/powerpoint/2010/main" val="1243945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0AC2F-0495-0E57-DE0F-599592F021FE}"/>
              </a:ext>
            </a:extLst>
          </p:cNvPr>
          <p:cNvSpPr>
            <a:spLocks noGrp="1"/>
          </p:cNvSpPr>
          <p:nvPr>
            <p:ph type="title"/>
          </p:nvPr>
        </p:nvSpPr>
        <p:spPr/>
        <p:txBody>
          <a:bodyPr/>
          <a:lstStyle/>
          <a:p>
            <a:r>
              <a:rPr lang="es-MX" dirty="0"/>
              <a:t>Teoremas en la aplicación</a:t>
            </a:r>
          </a:p>
        </p:txBody>
      </p:sp>
      <p:sp>
        <p:nvSpPr>
          <p:cNvPr id="3" name="Content Placeholder 2">
            <a:extLst>
              <a:ext uri="{FF2B5EF4-FFF2-40B4-BE49-F238E27FC236}">
                <a16:creationId xmlns:a16="http://schemas.microsoft.com/office/drawing/2014/main" id="{3642E320-DB8A-3766-89F6-6591926D4545}"/>
              </a:ext>
            </a:extLst>
          </p:cNvPr>
          <p:cNvSpPr>
            <a:spLocks noGrp="1"/>
          </p:cNvSpPr>
          <p:nvPr>
            <p:ph sz="half" idx="1"/>
          </p:nvPr>
        </p:nvSpPr>
        <p:spPr/>
        <p:txBody>
          <a:bodyPr/>
          <a:lstStyle/>
          <a:p>
            <a:r>
              <a:rPr lang="es-MX" dirty="0"/>
              <a:t>La  transferencia  de  calor  en  estado  no  estacionario  nos  permite  predecir  las  velocidades  de  enfriamiento  y  calentamiento  de  productos  de  diferentes  tipos  de  geometrías, con objeto de estimar el tiempo requerido para alcanzar ciertas temperaturas deseadas en la ingeniería de procesamiento de los alimentos.</a:t>
            </a:r>
          </a:p>
          <a:p>
            <a:endParaRPr lang="es-MX" dirty="0"/>
          </a:p>
        </p:txBody>
      </p:sp>
      <p:sp>
        <p:nvSpPr>
          <p:cNvPr id="4" name="Content Placeholder 3">
            <a:extLst>
              <a:ext uri="{FF2B5EF4-FFF2-40B4-BE49-F238E27FC236}">
                <a16:creationId xmlns:a16="http://schemas.microsoft.com/office/drawing/2014/main" id="{A53FB71C-51B3-9AC0-09BF-A3E9085786B6}"/>
              </a:ext>
            </a:extLst>
          </p:cNvPr>
          <p:cNvSpPr>
            <a:spLocks noGrp="1"/>
          </p:cNvSpPr>
          <p:nvPr>
            <p:ph sz="half" idx="2"/>
          </p:nvPr>
        </p:nvSpPr>
        <p:spPr/>
        <p:txBody>
          <a:bodyPr/>
          <a:lstStyle/>
          <a:p>
            <a:r>
              <a:rPr lang="es-MX" dirty="0"/>
              <a:t>Las  funciones  de  Bessel  son  de  primera  especie  y  orden  n,  de  segunda  especie  y  orden  n,  funciones  modificadas  de  Bessel  de  primera  especie  y  orden  </a:t>
            </a:r>
            <a:r>
              <a:rPr lang="es-MX" dirty="0" err="1"/>
              <a:t>n,y</a:t>
            </a:r>
            <a:r>
              <a:rPr lang="es-MX" dirty="0"/>
              <a:t>  funciones  modificadas  de  Bessel  de  segunda  especie  y  orden  n.</a:t>
            </a:r>
          </a:p>
        </p:txBody>
      </p:sp>
      <p:pic>
        <p:nvPicPr>
          <p:cNvPr id="6" name="Picture 5">
            <a:extLst>
              <a:ext uri="{FF2B5EF4-FFF2-40B4-BE49-F238E27FC236}">
                <a16:creationId xmlns:a16="http://schemas.microsoft.com/office/drawing/2014/main" id="{063C2496-D8FF-1F91-19AA-6B9713834D7C}"/>
              </a:ext>
            </a:extLst>
          </p:cNvPr>
          <p:cNvPicPr>
            <a:picLocks noChangeAspect="1"/>
          </p:cNvPicPr>
          <p:nvPr/>
        </p:nvPicPr>
        <p:blipFill>
          <a:blip r:embed="rId2"/>
          <a:stretch>
            <a:fillRect/>
          </a:stretch>
        </p:blipFill>
        <p:spPr>
          <a:xfrm>
            <a:off x="844587" y="5107194"/>
            <a:ext cx="4629150" cy="609600"/>
          </a:xfrm>
          <a:prstGeom prst="rect">
            <a:avLst/>
          </a:prstGeom>
        </p:spPr>
      </p:pic>
      <p:pic>
        <p:nvPicPr>
          <p:cNvPr id="8" name="Picture 7">
            <a:extLst>
              <a:ext uri="{FF2B5EF4-FFF2-40B4-BE49-F238E27FC236}">
                <a16:creationId xmlns:a16="http://schemas.microsoft.com/office/drawing/2014/main" id="{115A7719-F316-BF89-DFD1-BD774C148655}"/>
              </a:ext>
            </a:extLst>
          </p:cNvPr>
          <p:cNvPicPr>
            <a:picLocks noChangeAspect="1"/>
          </p:cNvPicPr>
          <p:nvPr/>
        </p:nvPicPr>
        <p:blipFill>
          <a:blip r:embed="rId3"/>
          <a:stretch>
            <a:fillRect/>
          </a:stretch>
        </p:blipFill>
        <p:spPr>
          <a:xfrm>
            <a:off x="1441525" y="5591916"/>
            <a:ext cx="3472023" cy="732435"/>
          </a:xfrm>
          <a:prstGeom prst="rect">
            <a:avLst/>
          </a:prstGeom>
        </p:spPr>
      </p:pic>
    </p:spTree>
    <p:extLst>
      <p:ext uri="{BB962C8B-B14F-4D97-AF65-F5344CB8AC3E}">
        <p14:creationId xmlns:p14="http://schemas.microsoft.com/office/powerpoint/2010/main" val="2841526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CADDA-E1B2-5749-4B3F-7C54647B838A}"/>
              </a:ext>
            </a:extLst>
          </p:cNvPr>
          <p:cNvSpPr>
            <a:spLocks noGrp="1"/>
          </p:cNvSpPr>
          <p:nvPr>
            <p:ph type="title"/>
          </p:nvPr>
        </p:nvSpPr>
        <p:spPr/>
        <p:txBody>
          <a:bodyPr/>
          <a:lstStyle/>
          <a:p>
            <a:r>
              <a:rPr lang="es-MX" dirty="0"/>
              <a:t>Aplicación de los teoremas</a:t>
            </a:r>
          </a:p>
        </p:txBody>
      </p:sp>
      <p:sp>
        <p:nvSpPr>
          <p:cNvPr id="3" name="Content Placeholder 2">
            <a:extLst>
              <a:ext uri="{FF2B5EF4-FFF2-40B4-BE49-F238E27FC236}">
                <a16:creationId xmlns:a16="http://schemas.microsoft.com/office/drawing/2014/main" id="{B21C6D17-BA94-138B-3558-56BC84DD2F98}"/>
              </a:ext>
            </a:extLst>
          </p:cNvPr>
          <p:cNvSpPr>
            <a:spLocks noGrp="1"/>
          </p:cNvSpPr>
          <p:nvPr>
            <p:ph idx="1"/>
          </p:nvPr>
        </p:nvSpPr>
        <p:spPr/>
        <p:txBody>
          <a:bodyPr/>
          <a:lstStyle/>
          <a:p>
            <a:r>
              <a:rPr lang="es-MX" dirty="0"/>
              <a:t>Su  aplicación  en  matemática,  de  la  ecuación de Bessel, es para resolver la ecuación diferencial de  Legendre  y  de  Laguerre;  en  física,  en  la  Teoría  de  las  super  cuerdas  y  deformación  de  materiales;  en  la  ingeniería de los procesos, para evaluar la transferencia de calor y masa y, en la difusión molecular de partículas</a:t>
            </a:r>
          </a:p>
          <a:p>
            <a:r>
              <a:rPr lang="es-MX" dirty="0"/>
              <a:t>Las técnicas de procesamiento térmico son ampliamente utilizadas  para  mejorar  la  calidad  y  seguridad  de  los  alimentos y a su vez extender la vida útil de los alimentos; complementando a su vez que el proceso térmico al que son sometidos los alimentos se compone de dos operaciones elementales: el calentamiento y el enfriamiento.</a:t>
            </a:r>
          </a:p>
          <a:p>
            <a:endParaRPr lang="es-MX" dirty="0"/>
          </a:p>
        </p:txBody>
      </p:sp>
    </p:spTree>
    <p:extLst>
      <p:ext uri="{BB962C8B-B14F-4D97-AF65-F5344CB8AC3E}">
        <p14:creationId xmlns:p14="http://schemas.microsoft.com/office/powerpoint/2010/main" val="1805767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5E732-E575-81C7-9FF8-64C4E37B82A0}"/>
              </a:ext>
            </a:extLst>
          </p:cNvPr>
          <p:cNvSpPr>
            <a:spLocks noGrp="1"/>
          </p:cNvSpPr>
          <p:nvPr>
            <p:ph type="title"/>
          </p:nvPr>
        </p:nvSpPr>
        <p:spPr>
          <a:xfrm>
            <a:off x="0" y="96819"/>
            <a:ext cx="9499002" cy="457200"/>
          </a:xfrm>
        </p:spPr>
        <p:txBody>
          <a:bodyPr>
            <a:normAutofit fontScale="90000"/>
          </a:bodyPr>
          <a:lstStyle/>
          <a:p>
            <a:r>
              <a:rPr lang="es-MX" dirty="0"/>
              <a:t>Formulas de la aplicación del teorema</a:t>
            </a:r>
          </a:p>
        </p:txBody>
      </p:sp>
      <p:sp>
        <p:nvSpPr>
          <p:cNvPr id="3" name="Content Placeholder 2">
            <a:extLst>
              <a:ext uri="{FF2B5EF4-FFF2-40B4-BE49-F238E27FC236}">
                <a16:creationId xmlns:a16="http://schemas.microsoft.com/office/drawing/2014/main" id="{8AC01E17-1EA7-F81C-0007-A17E92A45141}"/>
              </a:ext>
            </a:extLst>
          </p:cNvPr>
          <p:cNvSpPr>
            <a:spLocks noGrp="1"/>
          </p:cNvSpPr>
          <p:nvPr>
            <p:ph idx="1"/>
          </p:nvPr>
        </p:nvSpPr>
        <p:spPr>
          <a:xfrm>
            <a:off x="86060" y="554019"/>
            <a:ext cx="11908715" cy="5749962"/>
          </a:xfrm>
        </p:spPr>
        <p:txBody>
          <a:bodyPr/>
          <a:lstStyle/>
          <a:p>
            <a:r>
              <a:rPr lang="es-MX" dirty="0">
                <a:latin typeface="Times New Roman" panose="02020603050405020304" pitchFamily="18" charset="0"/>
                <a:cs typeface="Times New Roman" panose="02020603050405020304" pitchFamily="18" charset="0"/>
              </a:rPr>
              <a:t>Convertir de la fórmula de Bessel a </a:t>
            </a:r>
            <a:r>
              <a:rPr lang="es-MX" b="0" i="0" dirty="0">
                <a:effectLst/>
                <a:latin typeface="Times New Roman" panose="02020603050405020304" pitchFamily="18" charset="0"/>
              </a:rPr>
              <a:t>Frobenius</a:t>
            </a:r>
          </a:p>
          <a:p>
            <a:r>
              <a:rPr lang="es-MX" dirty="0"/>
              <a:t>&lt;</a:t>
            </a:r>
            <a:r>
              <a:rPr lang="es-MX" dirty="0" err="1"/>
              <a:t>aaaaaaaa</a:t>
            </a:r>
            <a:endParaRPr lang="es-MX" dirty="0"/>
          </a:p>
          <a:p>
            <a:pPr marL="0" indent="0">
              <a:buNone/>
            </a:pPr>
            <a:endParaRPr lang="es-MX" sz="1800" b="0" i="0" dirty="0">
              <a:effectLst/>
              <a:latin typeface="Times New Roman" panose="02020603050405020304" pitchFamily="18" charset="0"/>
            </a:endParaRPr>
          </a:p>
          <a:p>
            <a:r>
              <a:rPr lang="es-MX" sz="1800" b="0" i="0" dirty="0">
                <a:effectLst/>
                <a:latin typeface="Times New Roman" panose="02020603050405020304" pitchFamily="18" charset="0"/>
              </a:rPr>
              <a:t>Es de gran importancia contar con un diseño correcto del proceso térmico, ya que esto permite controlar las pérdidas </a:t>
            </a:r>
          </a:p>
          <a:p>
            <a:endParaRPr lang="es-MX" sz="1800" b="0" i="0" dirty="0">
              <a:effectLst/>
              <a:latin typeface="Times New Roman" panose="02020603050405020304" pitchFamily="18" charset="0"/>
            </a:endParaRPr>
          </a:p>
          <a:p>
            <a:r>
              <a:rPr lang="es-MX" sz="1800" b="0" i="0" dirty="0">
                <a:effectLst/>
                <a:latin typeface="Times New Roman" panose="02020603050405020304" pitchFamily="18" charset="0"/>
              </a:rPr>
              <a:t>Los diversos problemas de la ciencia, ingeniería, física y múltiples aplicaciones de la matemática, a diferentes campos del saber humano, requieren de soluciones similares o semejantes a la ecuación diferencial de Bessel</a:t>
            </a:r>
          </a:p>
          <a:p>
            <a:pPr marL="0" indent="0">
              <a:buNone/>
            </a:pPr>
            <a:endParaRPr lang="es-MX" sz="1800" dirty="0"/>
          </a:p>
          <a:p>
            <a:pPr marL="0" indent="0">
              <a:buNone/>
            </a:pPr>
            <a:endParaRPr lang="es-MX" sz="1800" b="0" i="0" dirty="0">
              <a:effectLst/>
              <a:latin typeface="Times New Roman" panose="02020603050405020304" pitchFamily="18" charset="0"/>
            </a:endParaRPr>
          </a:p>
          <a:p>
            <a:pPr marL="0" indent="0">
              <a:buNone/>
            </a:pPr>
            <a:r>
              <a:rPr lang="es-MX" sz="1800" b="0" i="0" dirty="0">
                <a:effectLst/>
                <a:latin typeface="Times New Roman" panose="02020603050405020304" pitchFamily="18" charset="0"/>
              </a:rPr>
              <a:t>L</a:t>
            </a:r>
            <a:r>
              <a:rPr lang="es-MX" sz="1800" dirty="0">
                <a:latin typeface="Times New Roman" panose="02020603050405020304" pitchFamily="18" charset="0"/>
              </a:rPr>
              <a:t>a</a:t>
            </a:r>
            <a:r>
              <a:rPr lang="es-MX" sz="1600" b="0" i="0" dirty="0">
                <a:effectLst/>
                <a:latin typeface="Times New Roman" panose="02020603050405020304" pitchFamily="18" charset="0"/>
              </a:rPr>
              <a:t>s soluciones de la anterior ecuación se llaman funciones de Bessel de orden n. Según </a:t>
            </a:r>
            <a:r>
              <a:rPr lang="es-MX" sz="1600" b="0" i="0" dirty="0" err="1">
                <a:effectLst/>
                <a:latin typeface="Times New Roman" panose="02020603050405020304" pitchFamily="18" charset="0"/>
              </a:rPr>
              <a:t>Kreyszig</a:t>
            </a:r>
            <a:r>
              <a:rPr lang="es-MX" sz="1600" b="0" i="0" dirty="0">
                <a:effectLst/>
                <a:latin typeface="Times New Roman" panose="02020603050405020304" pitchFamily="18" charset="0"/>
              </a:rPr>
              <a:t> (2016) formula las soluciones de la ecuación de Bessel de la siguiente forma:</a:t>
            </a:r>
            <a:endParaRPr lang="es-MX" sz="1800" b="0" i="0" dirty="0">
              <a:effectLst/>
              <a:latin typeface="Times New Roman" panose="02020603050405020304" pitchFamily="18" charset="0"/>
              <a:cs typeface="Times New Roman" panose="02020603050405020304" pitchFamily="18" charset="0"/>
            </a:endParaRPr>
          </a:p>
          <a:p>
            <a:endParaRPr lang="es-MX" sz="18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07742B8A-959D-B9E0-7A76-FCF04169B2D1}"/>
              </a:ext>
            </a:extLst>
          </p:cNvPr>
          <p:cNvPicPr>
            <a:picLocks noChangeAspect="1"/>
          </p:cNvPicPr>
          <p:nvPr/>
        </p:nvPicPr>
        <p:blipFill>
          <a:blip r:embed="rId2"/>
          <a:stretch>
            <a:fillRect/>
          </a:stretch>
        </p:blipFill>
        <p:spPr>
          <a:xfrm>
            <a:off x="0" y="1011219"/>
            <a:ext cx="3091646" cy="759874"/>
          </a:xfrm>
          <a:prstGeom prst="rect">
            <a:avLst/>
          </a:prstGeom>
        </p:spPr>
      </p:pic>
      <p:pic>
        <p:nvPicPr>
          <p:cNvPr id="9" name="Picture 8">
            <a:extLst>
              <a:ext uri="{FF2B5EF4-FFF2-40B4-BE49-F238E27FC236}">
                <a16:creationId xmlns:a16="http://schemas.microsoft.com/office/drawing/2014/main" id="{AC67FE95-10A5-D917-3E36-1A93085B1369}"/>
              </a:ext>
            </a:extLst>
          </p:cNvPr>
          <p:cNvPicPr>
            <a:picLocks noChangeAspect="1"/>
          </p:cNvPicPr>
          <p:nvPr/>
        </p:nvPicPr>
        <p:blipFill>
          <a:blip r:embed="rId3"/>
          <a:stretch>
            <a:fillRect/>
          </a:stretch>
        </p:blipFill>
        <p:spPr>
          <a:xfrm>
            <a:off x="86060" y="3916736"/>
            <a:ext cx="4524375" cy="638175"/>
          </a:xfrm>
          <a:prstGeom prst="rect">
            <a:avLst/>
          </a:prstGeom>
        </p:spPr>
      </p:pic>
      <p:pic>
        <p:nvPicPr>
          <p:cNvPr id="11" name="Picture 10">
            <a:extLst>
              <a:ext uri="{FF2B5EF4-FFF2-40B4-BE49-F238E27FC236}">
                <a16:creationId xmlns:a16="http://schemas.microsoft.com/office/drawing/2014/main" id="{D2F27B07-5E9D-003F-8D97-FA8F5268E8C3}"/>
              </a:ext>
            </a:extLst>
          </p:cNvPr>
          <p:cNvPicPr>
            <a:picLocks noChangeAspect="1"/>
          </p:cNvPicPr>
          <p:nvPr/>
        </p:nvPicPr>
        <p:blipFill>
          <a:blip r:embed="rId4"/>
          <a:stretch>
            <a:fillRect/>
          </a:stretch>
        </p:blipFill>
        <p:spPr>
          <a:xfrm>
            <a:off x="86060" y="5300047"/>
            <a:ext cx="8134350" cy="819150"/>
          </a:xfrm>
          <a:prstGeom prst="rect">
            <a:avLst/>
          </a:prstGeom>
        </p:spPr>
      </p:pic>
    </p:spTree>
    <p:extLst>
      <p:ext uri="{BB962C8B-B14F-4D97-AF65-F5344CB8AC3E}">
        <p14:creationId xmlns:p14="http://schemas.microsoft.com/office/powerpoint/2010/main" val="3659018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4E945-21DC-C76A-21E3-D92634D5C143}"/>
              </a:ext>
            </a:extLst>
          </p:cNvPr>
          <p:cNvSpPr>
            <a:spLocks noGrp="1"/>
          </p:cNvSpPr>
          <p:nvPr>
            <p:ph type="title"/>
          </p:nvPr>
        </p:nvSpPr>
        <p:spPr>
          <a:xfrm>
            <a:off x="0" y="9962"/>
            <a:ext cx="10058400" cy="748452"/>
          </a:xfrm>
        </p:spPr>
        <p:txBody>
          <a:bodyPr/>
          <a:lstStyle/>
          <a:p>
            <a:r>
              <a:rPr lang="es-MX" dirty="0"/>
              <a:t>Fórmulas de aplicación </a:t>
            </a:r>
          </a:p>
        </p:txBody>
      </p:sp>
      <p:sp>
        <p:nvSpPr>
          <p:cNvPr id="3" name="Content Placeholder 2">
            <a:extLst>
              <a:ext uri="{FF2B5EF4-FFF2-40B4-BE49-F238E27FC236}">
                <a16:creationId xmlns:a16="http://schemas.microsoft.com/office/drawing/2014/main" id="{6B1F9852-5E36-6E19-ACE7-588B0CD77788}"/>
              </a:ext>
            </a:extLst>
          </p:cNvPr>
          <p:cNvSpPr>
            <a:spLocks noGrp="1"/>
          </p:cNvSpPr>
          <p:nvPr>
            <p:ph idx="1"/>
          </p:nvPr>
        </p:nvSpPr>
        <p:spPr>
          <a:xfrm>
            <a:off x="118333" y="758414"/>
            <a:ext cx="11811897" cy="5470263"/>
          </a:xfrm>
        </p:spPr>
        <p:txBody>
          <a:bodyPr/>
          <a:lstStyle/>
          <a:p>
            <a:r>
              <a:rPr lang="es-MX" b="0" i="0" dirty="0">
                <a:effectLst/>
                <a:latin typeface="Times New Roman" panose="02020603050405020304" pitchFamily="18" charset="0"/>
              </a:rPr>
              <a:t>Según Simmons (2018), plantea las fórmulas de recurrencia de las funciones de Bessel, que se listan a continuación:</a:t>
            </a:r>
          </a:p>
          <a:p>
            <a:endParaRPr lang="es-MX" dirty="0"/>
          </a:p>
          <a:p>
            <a:endParaRPr lang="es-MX" dirty="0"/>
          </a:p>
          <a:p>
            <a:endParaRPr lang="es-MX" dirty="0"/>
          </a:p>
          <a:p>
            <a:endParaRPr lang="es-MX" dirty="0"/>
          </a:p>
          <a:p>
            <a:pPr marL="0" indent="0">
              <a:buNone/>
            </a:pPr>
            <a:endParaRPr lang="es-MX" dirty="0">
              <a:latin typeface="Times New Roman" panose="02020603050405020304" pitchFamily="18" charset="0"/>
            </a:endParaRPr>
          </a:p>
          <a:p>
            <a:pPr marL="0" indent="0">
              <a:buNone/>
            </a:pPr>
            <a:r>
              <a:rPr lang="es-MX" sz="1800" b="0" i="0" dirty="0">
                <a:effectLst/>
                <a:latin typeface="Times New Roman" panose="02020603050405020304" pitchFamily="18" charset="0"/>
              </a:rPr>
              <a:t>Las funciones de Bessel satisfacen idénticas relaciones; donde las dificultades de dicha ecuación diferencial, radican en que tiene variantes de dificultad mayor e inclusive, presenta, tres modificaciones en su solución, las mismas que se mencionan (Spiegel, 2011).</a:t>
            </a:r>
          </a:p>
          <a:p>
            <a:pPr marL="0" indent="0">
              <a:buNone/>
            </a:pPr>
            <a:r>
              <a:rPr lang="es-MX" sz="1600" b="0" i="0" dirty="0">
                <a:effectLst/>
                <a:latin typeface="Times New Roman" panose="02020603050405020304" pitchFamily="18" charset="0"/>
              </a:rPr>
              <a:t>Función de Bessel de Segunda Clase, </a:t>
            </a:r>
            <a:r>
              <a:rPr lang="es-MX" sz="1600" b="0" i="0" dirty="0" err="1">
                <a:effectLst/>
                <a:latin typeface="Times New Roman" panose="02020603050405020304" pitchFamily="18" charset="0"/>
              </a:rPr>
              <a:t>Yn</a:t>
            </a:r>
            <a:r>
              <a:rPr lang="es-MX" sz="1600" b="0" i="0" dirty="0">
                <a:effectLst/>
                <a:latin typeface="Times New Roman" panose="02020603050405020304" pitchFamily="18" charset="0"/>
              </a:rPr>
              <a:t>(x), de orden n se define como:</a:t>
            </a:r>
            <a:endParaRPr lang="es-MX" sz="1800" dirty="0">
              <a:latin typeface="Times New Roman" panose="02020603050405020304" pitchFamily="18" charset="0"/>
            </a:endParaRPr>
          </a:p>
          <a:p>
            <a:pPr marL="0" indent="0">
              <a:buNone/>
            </a:pPr>
            <a:endParaRPr lang="es-MX" sz="1800" b="0" i="0" dirty="0">
              <a:effectLst/>
              <a:latin typeface="Times New Roman" panose="02020603050405020304" pitchFamily="18" charset="0"/>
            </a:endParaRPr>
          </a:p>
        </p:txBody>
      </p:sp>
      <p:pic>
        <p:nvPicPr>
          <p:cNvPr id="5" name="Picture 4">
            <a:extLst>
              <a:ext uri="{FF2B5EF4-FFF2-40B4-BE49-F238E27FC236}">
                <a16:creationId xmlns:a16="http://schemas.microsoft.com/office/drawing/2014/main" id="{3061D085-A179-274E-DD40-8D91E5FEAA7C}"/>
              </a:ext>
            </a:extLst>
          </p:cNvPr>
          <p:cNvPicPr>
            <a:picLocks noChangeAspect="1"/>
          </p:cNvPicPr>
          <p:nvPr/>
        </p:nvPicPr>
        <p:blipFill rotWithShape="1">
          <a:blip r:embed="rId2"/>
          <a:srcRect r="8426"/>
          <a:stretch/>
        </p:blipFill>
        <p:spPr>
          <a:xfrm>
            <a:off x="0" y="1506866"/>
            <a:ext cx="2904565" cy="2390775"/>
          </a:xfrm>
          <a:prstGeom prst="rect">
            <a:avLst/>
          </a:prstGeom>
        </p:spPr>
      </p:pic>
      <p:pic>
        <p:nvPicPr>
          <p:cNvPr id="7" name="Picture 6">
            <a:extLst>
              <a:ext uri="{FF2B5EF4-FFF2-40B4-BE49-F238E27FC236}">
                <a16:creationId xmlns:a16="http://schemas.microsoft.com/office/drawing/2014/main" id="{A06D4C02-4930-1AEC-CB69-DD2D6E6AC1B5}"/>
              </a:ext>
            </a:extLst>
          </p:cNvPr>
          <p:cNvPicPr>
            <a:picLocks noChangeAspect="1"/>
          </p:cNvPicPr>
          <p:nvPr/>
        </p:nvPicPr>
        <p:blipFill>
          <a:blip r:embed="rId3"/>
          <a:stretch>
            <a:fillRect/>
          </a:stretch>
        </p:blipFill>
        <p:spPr>
          <a:xfrm>
            <a:off x="2406743" y="1506866"/>
            <a:ext cx="2752725" cy="1362075"/>
          </a:xfrm>
          <a:prstGeom prst="rect">
            <a:avLst/>
          </a:prstGeom>
        </p:spPr>
      </p:pic>
      <p:pic>
        <p:nvPicPr>
          <p:cNvPr id="6" name="Picture 5">
            <a:extLst>
              <a:ext uri="{FF2B5EF4-FFF2-40B4-BE49-F238E27FC236}">
                <a16:creationId xmlns:a16="http://schemas.microsoft.com/office/drawing/2014/main" id="{803261C2-8184-7F3B-D0A4-05B504213B78}"/>
              </a:ext>
            </a:extLst>
          </p:cNvPr>
          <p:cNvPicPr>
            <a:picLocks noChangeAspect="1"/>
          </p:cNvPicPr>
          <p:nvPr/>
        </p:nvPicPr>
        <p:blipFill>
          <a:blip r:embed="rId4"/>
          <a:stretch>
            <a:fillRect/>
          </a:stretch>
        </p:blipFill>
        <p:spPr>
          <a:xfrm>
            <a:off x="42162" y="5641427"/>
            <a:ext cx="4729162" cy="1101600"/>
          </a:xfrm>
          <a:prstGeom prst="rect">
            <a:avLst/>
          </a:prstGeom>
        </p:spPr>
      </p:pic>
    </p:spTree>
    <p:extLst>
      <p:ext uri="{BB962C8B-B14F-4D97-AF65-F5344CB8AC3E}">
        <p14:creationId xmlns:p14="http://schemas.microsoft.com/office/powerpoint/2010/main" val="1940215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47F5C-50EC-416A-AE8C-6F6BB4225673}"/>
              </a:ext>
            </a:extLst>
          </p:cNvPr>
          <p:cNvSpPr>
            <a:spLocks noGrp="1"/>
          </p:cNvSpPr>
          <p:nvPr>
            <p:ph type="title"/>
          </p:nvPr>
        </p:nvSpPr>
        <p:spPr>
          <a:xfrm>
            <a:off x="1097280" y="286603"/>
            <a:ext cx="10058400" cy="1450757"/>
          </a:xfrm>
        </p:spPr>
        <p:txBody>
          <a:bodyPr>
            <a:normAutofit/>
          </a:bodyPr>
          <a:lstStyle/>
          <a:p>
            <a:r>
              <a:rPr lang="en-US" dirty="0" err="1"/>
              <a:t>Conclusión</a:t>
            </a:r>
            <a:endParaRPr lang="en-US" dirty="0"/>
          </a:p>
        </p:txBody>
      </p:sp>
      <p:graphicFrame>
        <p:nvGraphicFramePr>
          <p:cNvPr id="4" name="Content Placeholder 2" descr="SmartArt graphic">
            <a:extLst>
              <a:ext uri="{FF2B5EF4-FFF2-40B4-BE49-F238E27FC236}">
                <a16:creationId xmlns:a16="http://schemas.microsoft.com/office/drawing/2014/main" id="{59F5A1AC-D08D-42AE-B94A-1CAFB517D846}"/>
              </a:ext>
            </a:extLst>
          </p:cNvPr>
          <p:cNvGraphicFramePr>
            <a:graphicFrameLocks noGrp="1"/>
          </p:cNvGraphicFramePr>
          <p:nvPr>
            <p:ph idx="1"/>
            <p:extLst>
              <p:ext uri="{D42A27DB-BD31-4B8C-83A1-F6EECF244321}">
                <p14:modId xmlns:p14="http://schemas.microsoft.com/office/powerpoint/2010/main" val="3447872853"/>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55225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C5F6D-FE76-E471-502E-64BE0572AE3F}"/>
              </a:ext>
            </a:extLst>
          </p:cNvPr>
          <p:cNvSpPr>
            <a:spLocks noGrp="1"/>
          </p:cNvSpPr>
          <p:nvPr>
            <p:ph type="title"/>
          </p:nvPr>
        </p:nvSpPr>
        <p:spPr/>
        <p:txBody>
          <a:bodyPr/>
          <a:lstStyle/>
          <a:p>
            <a:r>
              <a:rPr lang="es-MX" dirty="0"/>
              <a:t>Fuentes</a:t>
            </a:r>
          </a:p>
        </p:txBody>
      </p:sp>
      <p:sp>
        <p:nvSpPr>
          <p:cNvPr id="3" name="Content Placeholder 2">
            <a:extLst>
              <a:ext uri="{FF2B5EF4-FFF2-40B4-BE49-F238E27FC236}">
                <a16:creationId xmlns:a16="http://schemas.microsoft.com/office/drawing/2014/main" id="{5ACC6F0E-35FA-4CC0-E877-FF931FC888F1}"/>
              </a:ext>
            </a:extLst>
          </p:cNvPr>
          <p:cNvSpPr>
            <a:spLocks noGrp="1"/>
          </p:cNvSpPr>
          <p:nvPr>
            <p:ph idx="1"/>
          </p:nvPr>
        </p:nvSpPr>
        <p:spPr/>
        <p:txBody>
          <a:bodyPr/>
          <a:lstStyle/>
          <a:p>
            <a:r>
              <a:rPr lang="es-MX" b="0" i="0" dirty="0" err="1">
                <a:effectLst/>
                <a:latin typeface="Times New Roman" panose="02020603050405020304" pitchFamily="18" charset="0"/>
              </a:rPr>
              <a:t>Bakalis</a:t>
            </a:r>
            <a:r>
              <a:rPr lang="es-MX" b="0" i="0" dirty="0">
                <a:effectLst/>
                <a:latin typeface="Times New Roman" panose="02020603050405020304" pitchFamily="18" charset="0"/>
              </a:rPr>
              <a:t>, S. 2019. </a:t>
            </a:r>
            <a:r>
              <a:rPr lang="es-MX" b="0" i="0" dirty="0" err="1">
                <a:effectLst/>
                <a:latin typeface="Times New Roman" panose="02020603050405020304" pitchFamily="18" charset="0"/>
              </a:rPr>
              <a:t>Modelling</a:t>
            </a:r>
            <a:r>
              <a:rPr lang="es-MX" b="0" i="0" dirty="0">
                <a:effectLst/>
                <a:latin typeface="Times New Roman" panose="02020603050405020304" pitchFamily="18" charset="0"/>
              </a:rPr>
              <a:t> </a:t>
            </a:r>
            <a:r>
              <a:rPr lang="es-MX" b="0" i="0" dirty="0" err="1">
                <a:effectLst/>
                <a:latin typeface="Times New Roman" panose="02020603050405020304" pitchFamily="18" charset="0"/>
              </a:rPr>
              <a:t>thermal</a:t>
            </a:r>
            <a:r>
              <a:rPr lang="es-MX" b="0" i="0" dirty="0">
                <a:effectLst/>
                <a:latin typeface="Times New Roman" panose="02020603050405020304" pitchFamily="18" charset="0"/>
              </a:rPr>
              <a:t> </a:t>
            </a:r>
            <a:r>
              <a:rPr lang="es-MX" b="0" i="0" dirty="0" err="1">
                <a:effectLst/>
                <a:latin typeface="Times New Roman" panose="02020603050405020304" pitchFamily="18" charset="0"/>
              </a:rPr>
              <a:t>processes</a:t>
            </a:r>
            <a:r>
              <a:rPr lang="es-MX" b="0" i="0" dirty="0">
                <a:effectLst/>
                <a:latin typeface="Times New Roman" panose="02020603050405020304" pitchFamily="18" charset="0"/>
              </a:rPr>
              <a:t>: </a:t>
            </a:r>
            <a:r>
              <a:rPr lang="es-MX" b="0" i="0" dirty="0" err="1">
                <a:effectLst/>
                <a:latin typeface="Times New Roman" panose="02020603050405020304" pitchFamily="18" charset="0"/>
              </a:rPr>
              <a:t>heating</a:t>
            </a:r>
            <a:r>
              <a:rPr lang="es-MX" b="0" i="0" dirty="0">
                <a:effectLst/>
                <a:latin typeface="Times New Roman" panose="02020603050405020304" pitchFamily="18" charset="0"/>
              </a:rPr>
              <a:t>. En: </a:t>
            </a:r>
            <a:r>
              <a:rPr lang="es-MX" b="0" i="0" dirty="0" err="1">
                <a:effectLst/>
                <a:latin typeface="Times New Roman" panose="02020603050405020304" pitchFamily="18" charset="0"/>
              </a:rPr>
              <a:t>Food</a:t>
            </a:r>
            <a:r>
              <a:rPr lang="es-MX" b="0" i="0" dirty="0">
                <a:effectLst/>
                <a:latin typeface="Times New Roman" panose="02020603050405020304" pitchFamily="18" charset="0"/>
              </a:rPr>
              <a:t> </a:t>
            </a:r>
            <a:r>
              <a:rPr lang="es-MX" b="0" i="0" dirty="0" err="1">
                <a:effectLst/>
                <a:latin typeface="Times New Roman" panose="02020603050405020304" pitchFamily="18" charset="0"/>
              </a:rPr>
              <a:t>process</a:t>
            </a:r>
            <a:r>
              <a:rPr lang="es-MX" b="0" i="0" dirty="0">
                <a:effectLst/>
                <a:latin typeface="Times New Roman" panose="02020603050405020304" pitchFamily="18" charset="0"/>
              </a:rPr>
              <a:t> </a:t>
            </a:r>
            <a:r>
              <a:rPr lang="es-MX" b="0" i="0" dirty="0" err="1">
                <a:effectLst/>
                <a:latin typeface="Times New Roman" panose="02020603050405020304" pitchFamily="18" charset="0"/>
              </a:rPr>
              <a:t>modeling</a:t>
            </a:r>
            <a:r>
              <a:rPr lang="es-MX" b="0" i="0" dirty="0">
                <a:effectLst/>
                <a:latin typeface="Times New Roman" panose="02020603050405020304" pitchFamily="18" charset="0"/>
              </a:rPr>
              <a:t>. </a:t>
            </a:r>
            <a:r>
              <a:rPr lang="es-MX" b="0" i="0" dirty="0" err="1">
                <a:effectLst/>
                <a:latin typeface="Times New Roman" panose="02020603050405020304" pitchFamily="18" charset="0"/>
              </a:rPr>
              <a:t>Tijskens</a:t>
            </a:r>
            <a:r>
              <a:rPr lang="es-MX" b="0" i="0" dirty="0">
                <a:effectLst/>
                <a:latin typeface="Times New Roman" panose="02020603050405020304" pitchFamily="18" charset="0"/>
              </a:rPr>
              <a:t>, L.M.N.; </a:t>
            </a:r>
            <a:r>
              <a:rPr lang="es-MX" b="0" i="0" dirty="0" err="1">
                <a:effectLst/>
                <a:latin typeface="Times New Roman" panose="02020603050405020304" pitchFamily="18" charset="0"/>
              </a:rPr>
              <a:t>Hertog</a:t>
            </a:r>
            <a:r>
              <a:rPr lang="es-MX" b="0" i="0" dirty="0">
                <a:effectLst/>
                <a:latin typeface="Times New Roman" panose="02020603050405020304" pitchFamily="18" charset="0"/>
              </a:rPr>
              <a:t>, M.L.A.T.M. &amp; Nicolai, B.M. (eds.). CRS </a:t>
            </a:r>
            <a:r>
              <a:rPr lang="es-MX" b="0" i="0" dirty="0" err="1">
                <a:effectLst/>
                <a:latin typeface="Times New Roman" panose="02020603050405020304" pitchFamily="18" charset="0"/>
              </a:rPr>
              <a:t>Press</a:t>
            </a:r>
            <a:r>
              <a:rPr lang="es-MX" b="0" i="0" dirty="0">
                <a:effectLst/>
                <a:latin typeface="Times New Roman" panose="02020603050405020304" pitchFamily="18" charset="0"/>
              </a:rPr>
              <a:t>.</a:t>
            </a:r>
          </a:p>
          <a:p>
            <a:r>
              <a:rPr lang="es-MX" b="0" i="0" dirty="0">
                <a:effectLst/>
                <a:latin typeface="Times New Roman" panose="02020603050405020304" pitchFamily="18" charset="0"/>
              </a:rPr>
              <a:t>Simmons, G.H. 2018. Matemática aplicada con modelamiento matemático elemental y aplicaciones prácticas. Ed. Reverté. México. D. F</a:t>
            </a:r>
          </a:p>
          <a:p>
            <a:endParaRPr lang="es-MX" dirty="0"/>
          </a:p>
        </p:txBody>
      </p:sp>
    </p:spTree>
    <p:extLst>
      <p:ext uri="{BB962C8B-B14F-4D97-AF65-F5344CB8AC3E}">
        <p14:creationId xmlns:p14="http://schemas.microsoft.com/office/powerpoint/2010/main" val="604435811"/>
      </p:ext>
    </p:extLst>
  </p:cSld>
  <p:clrMapOvr>
    <a:masterClrMapping/>
  </p:clrMapOvr>
</p:sld>
</file>

<file path=ppt/theme/theme1.xml><?xml version="1.0" encoding="utf-8"?>
<a:theme xmlns:a="http://schemas.openxmlformats.org/drawingml/2006/main" name="RetrospectVTI">
  <a:themeElements>
    <a:clrScheme name="">
      <a:dk1>
        <a:srgbClr val="000000"/>
      </a:dk1>
      <a:lt1>
        <a:srgbClr val="FFFFFF"/>
      </a:lt1>
      <a:dk2>
        <a:srgbClr val="243541"/>
      </a:dk2>
      <a:lt2>
        <a:srgbClr val="E2E5E8"/>
      </a:lt2>
      <a:accent1>
        <a:srgbClr val="E88B33"/>
      </a:accent1>
      <a:accent2>
        <a:srgbClr val="AEA33A"/>
      </a:accent2>
      <a:accent3>
        <a:srgbClr val="8CAB4A"/>
      </a:accent3>
      <a:accent4>
        <a:srgbClr val="57B636"/>
      </a:accent4>
      <a:accent5>
        <a:srgbClr val="2EBA43"/>
      </a:accent5>
      <a:accent6>
        <a:srgbClr val="33B67D"/>
      </a:accent6>
      <a:hlink>
        <a:srgbClr val="5F84A8"/>
      </a:hlink>
      <a:folHlink>
        <a:srgbClr val="7F7F7F"/>
      </a:folHlink>
    </a:clrScheme>
    <a:fontScheme name="Retrospect">
      <a:majorFont>
        <a:latin typeface="Georgia Pro Cond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peak Pro"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Override1.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ppt/theme/themeOverride2.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F3CD65D-61A5-43C9-A837-6EC73C7DA8A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16377351-63A1-4C2E-8C9A-66CDD70F16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1F006B4-A9E1-4F39-85C8-FB836F91934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{6EC372FC-7E23-4FAE-BC02-49FD7285A095}tf11437505_win32</Template>
  <TotalTime>3181</TotalTime>
  <Words>748</Words>
  <Application>Microsoft Office PowerPoint</Application>
  <PresentationFormat>Widescreen</PresentationFormat>
  <Paragraphs>43</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Calibri</vt:lpstr>
      <vt:lpstr>Georgia Pro Cond Light</vt:lpstr>
      <vt:lpstr>Speak Pro</vt:lpstr>
      <vt:lpstr>Times New Roman</vt:lpstr>
      <vt:lpstr>RetrospectVTI</vt:lpstr>
      <vt:lpstr>Ecuaciones diferenciales en ingeniería en alimentos.</vt:lpstr>
      <vt:lpstr>Resumen</vt:lpstr>
      <vt:lpstr>Teoremas en la aplicación</vt:lpstr>
      <vt:lpstr>Aplicación de los teoremas</vt:lpstr>
      <vt:lpstr>Formulas de la aplicación del teorema</vt:lpstr>
      <vt:lpstr>Fórmulas de aplicación </vt:lpstr>
      <vt:lpstr>Conclusión</vt:lpstr>
      <vt:lpstr>Fuentes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Ecuaciones diferenciales en ingeniería en alimentos.</dc:title>
  <dc:creator>Roberto Misael Reyes Cruz</dc:creator>
  <cp:lastModifiedBy>Roberto Misael Reyes Cruz</cp:lastModifiedBy>
  <cp:revision>2</cp:revision>
  <dcterms:created xsi:type="dcterms:W3CDTF">2022-11-11T23:41:54Z</dcterms:created>
  <dcterms:modified xsi:type="dcterms:W3CDTF">2022-11-15T01:18:09Z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